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965960"/>
            <a:ext cx="1463040" cy="36576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6914"/>
                </a:solidFill>
                <a:latin typeface="Calibri"/>
              </a:rPr>
              <a:t>BUSINESS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CF7"/>
                </a:solidFill>
                <a:latin typeface="Calibri"/>
              </a:rPr>
              <a:t>A model is not a result.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4CFC3"/>
                </a:solidFill>
                <a:latin typeface="Calibri"/>
              </a:rPr>
              <a:t>Conservative / Base / Upside on your volume. Capacity is not cash.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6914"/>
                </a:solidFill>
                <a:latin typeface="Calibri"/>
              </a:rPr>
              <a:t>Proof before permission.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2179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D4CFC3"/>
                </a:solidFill>
                <a:latin typeface="Calibri"/>
              </a:rPr>
              <a:t>evidenceroom.ai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914"/>
                </a:solidFill>
                <a:latin typeface="Calibri"/>
              </a:rPr>
              <a:t>EVIDENCE ROOM  ·  AP AGENT 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2011680" cy="274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C19"/>
                </a:solidFill>
                <a:latin typeface="Calibri"/>
              </a:rPr>
              <a:t>Because 21% is the number that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560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5C6158"/>
                </a:solidFill>
                <a:latin typeface="Calibri"/>
              </a:rPr>
              <a:t>WHY A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Deloitte (8 Oct 2025): 63% deployed AI; 21% report clear, measurable ROI.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This pack exists so you do not become the 42-point gap.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We will not put Hackett’s 60% touchless on a slide as if it were yours.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914"/>
                </a:solidFill>
                <a:latin typeface="Calibri"/>
              </a:rPr>
              <a:t>EVIDENCE ROOM  ·  AP AGENT 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2011680" cy="274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C19"/>
                </a:solidFill>
                <a:latin typeface="Calibri"/>
              </a:rPr>
              <a:t>You must own these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560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5C6158"/>
                </a:solidFill>
                <a:latin typeface="Calibri"/>
              </a:rPr>
              <a:t>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Invoice volume, AP ops FTE, loaded cost.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Manual-touch and exception rates from your queue.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Resolution minutes. Duplicate rate if measured.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Late fees and missed discounts only if known — else zero.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AI/tool run-cost and implementation cost.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914"/>
                </a:solidFill>
                <a:latin typeface="Calibri"/>
              </a:rPr>
              <a:t>EVIDENCE ROOM  ·  AP AGENT 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2011680" cy="274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C19"/>
                </a:solidFill>
                <a:latin typeface="Calibri"/>
              </a:rPr>
              <a:t>What the workbook returns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560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5C6158"/>
                </a:solidFill>
                <a:latin typeface="Calibri"/>
              </a:rPr>
              <a:t>OUTPUTS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Baseline labour proxy and exception hours.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Hours released after a realisation haircut.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Cash-like benefit only after a conversion percentage you set.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Net after AI run-cost. Payback. Year-1 ROI (may be negative).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Sensitivity grid: exception rate × efficiency.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914"/>
                </a:solidFill>
                <a:latin typeface="Calibri"/>
              </a:rPr>
              <a:t>EVIDENCE ROOM  ·  AP AGENT 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2011680" cy="274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C19"/>
                </a:solidFill>
                <a:latin typeface="Calibri"/>
              </a:rPr>
              <a:t>Three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560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5C6158"/>
                </a:solidFill>
                <a:latin typeface="Calibri"/>
              </a:rPr>
              <a:t>HOW TO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Lead with Conservative. Show Base. Mention Upside last.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Say ‘hours’ before you say ‘dollars’.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Bring the Benefits tracker: VALIDATED column starts at zero.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914"/>
                </a:solidFill>
                <a:latin typeface="Calibri"/>
              </a:rPr>
              <a:t>EVIDENCE ROOM  ·  AP AGENT 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66928"/>
            <a:ext cx="2011680" cy="274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C19"/>
                </a:solidFill>
                <a:latin typeface="Calibri"/>
              </a:rPr>
              <a:t>8,400 invoices / month — overwrite in the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2560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5C6158"/>
                </a:solidFill>
                <a:latin typeface="Calibri"/>
              </a:rPr>
              <a:t>ILLUSTRATIVE ACME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Figures in the Excel default are ILLUSTRATIVE ACME Manufacturing.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They exist so the model is not empty. They are not a benchmark.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A1C19"/>
                </a:solidFill>
                <a:latin typeface="Calibri"/>
              </a:rPr>
              <a:t>—  If you present ACME numbers as your own, you have failed the evidence standard.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CF7"/>
                </a:solidFill>
                <a:latin typeface="Calibri"/>
              </a:rPr>
              <a:t>Open the workbook. Replace the yellow cells. Then talk.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4CFC3"/>
                </a:solidFill>
                <a:latin typeface="Calibri"/>
              </a:rPr>
              <a:t>Primary: evidenceroom.ai/diagnostic    ·    Secondary: Explore the AP Agent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6914"/>
                </a:solidFill>
                <a:latin typeface="Calibri"/>
              </a:rPr>
              <a:t>Not a savings, fraud, compliance, or autonomous-payment guarantee. Counsel reviews licence and privacy before force.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
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EVIDENCE ROOM</a:t>
            </a:r>
          </a:p>
          <a:p>
            <a:pPr>
              <a:defRPr sz="3200" b="1"/>
            </a:pPr>
            <a:r>
              <a:t>AP Agent OS Workshop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/>
            </a:pPr>
            <a:r>
              <a:t>The AP Challenge</a:t>
            </a:r>
          </a:p>
          <a:p>
            <a:pPr>
              <a:spcBef>
                <a:spcPts val="800"/>
              </a:spcBef>
              <a:defRPr sz="1600"/>
            </a:pPr>
            <a:r>
              <a:t>• $9.40 average cost per invoice</a:t>
            </a:r>
          </a:p>
          <a:p>
            <a:pPr>
              <a:spcBef>
                <a:spcPts val="800"/>
              </a:spcBef>
              <a:defRPr sz="1600"/>
            </a:pPr>
            <a:r>
              <a:t>• 14% exception rate</a:t>
            </a:r>
          </a:p>
          <a:p>
            <a:pPr>
              <a:spcBef>
                <a:spcPts val="800"/>
              </a:spcBef>
              <a:defRPr sz="1600"/>
            </a:pPr>
            <a:r>
              <a:t>• Only 32.6% straight-through processing</a:t>
            </a:r>
          </a:p>
          <a:p>
            <a:pPr>
              <a:spcBef>
                <a:spcPts val="800"/>
              </a:spcBef>
              <a:defRPr sz="1600"/>
            </a:pPr>
            <a:r>
              <a:t>• 37% of finance AI adoption is AP automation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/>
            </a:pPr>
            <a:r>
              <a:t>What Agentic AP Means</a:t>
            </a:r>
          </a:p>
          <a:p>
            <a:pPr>
              <a:defRPr sz="1400"/>
            </a:pPr>
            <a:r>
              <a:t>A governed workforce of AI agents operating across your existing AP stack — not replacing 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/>
            </a:pPr>
            <a:r>
              <a:t>The Evidence Room Approach</a:t>
            </a:r>
          </a:p>
          <a:p>
            <a:pPr>
              <a:spcBef>
                <a:spcPts val="800"/>
              </a:spcBef>
              <a:defRPr sz="1600"/>
            </a:pPr>
            <a:r>
              <a:t>• Agents earn responsibility</a:t>
            </a:r>
          </a:p>
          <a:p>
            <a:pPr>
              <a:spcBef>
                <a:spcPts val="800"/>
              </a:spcBef>
              <a:defRPr sz="1600"/>
            </a:pPr>
            <a:r>
              <a:t>• 5-level autonomy model</a:t>
            </a:r>
          </a:p>
          <a:p>
            <a:pPr>
              <a:spcBef>
                <a:spcPts val="800"/>
              </a:spcBef>
              <a:defRPr sz="1600"/>
            </a:pPr>
            <a:r>
              <a:t>• Governance-first design</a:t>
            </a:r>
          </a:p>
          <a:p>
            <a:pPr>
              <a:spcBef>
                <a:spcPts val="800"/>
              </a:spcBef>
              <a:defRPr sz="1600"/>
            </a:pPr>
            <a:r>
              <a:t>• Measurable outcomes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/>
            </a:pPr>
            <a:r>
              <a:t>16-Agent Architecture</a:t>
            </a:r>
          </a:p>
          <a:p>
            <a:pPr>
              <a:spcBef>
                <a:spcPts val="800"/>
              </a:spcBef>
              <a:defRPr sz="1600"/>
            </a:pPr>
            <a:r>
              <a:t>• 1. Invoice Intake Agent</a:t>
            </a:r>
          </a:p>
          <a:p>
            <a:pPr>
              <a:spcBef>
                <a:spcPts val="800"/>
              </a:spcBef>
              <a:defRPr sz="1600"/>
            </a:pPr>
            <a:r>
              <a:t>• 2. Invoice Validation Agent</a:t>
            </a:r>
          </a:p>
          <a:p>
            <a:pPr>
              <a:spcBef>
                <a:spcPts val="800"/>
              </a:spcBef>
              <a:defRPr sz="1600"/>
            </a:pPr>
            <a:r>
              <a:t>• 3. Matching Agent</a:t>
            </a:r>
          </a:p>
          <a:p>
            <a:pPr>
              <a:spcBef>
                <a:spcPts val="800"/>
              </a:spcBef>
              <a:defRPr sz="1600"/>
            </a:pPr>
            <a:r>
              <a:t>• 4. Exception Triage Agent</a:t>
            </a:r>
          </a:p>
          <a:p>
            <a:pPr>
              <a:spcBef>
                <a:spcPts val="800"/>
              </a:spcBef>
              <a:defRPr sz="1600"/>
            </a:pPr>
            <a:r>
              <a:t>• 5. Goods Receipt Agent</a:t>
            </a:r>
          </a:p>
          <a:p>
            <a:pPr>
              <a:spcBef>
                <a:spcPts val="800"/>
              </a:spcBef>
              <a:defRPr sz="1600"/>
            </a:pPr>
            <a:r>
              <a:t>• 6. PO Quality Agent</a:t>
            </a:r>
          </a:p>
          <a:p>
            <a:pPr>
              <a:spcBef>
                <a:spcPts val="800"/>
              </a:spcBef>
              <a:defRPr sz="1600"/>
            </a:pPr>
            <a:r>
              <a:t>• 7. Approval Agent</a:t>
            </a:r>
          </a:p>
          <a:p>
            <a:pPr>
              <a:spcBef>
                <a:spcPts val="800"/>
              </a:spcBef>
              <a:defRPr sz="1600"/>
            </a:pPr>
            <a:r>
              <a:t>• 8. Supplier Resolution Agent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/>
            </a:pPr>
            <a:r>
              <a:t>16-Agent Architecture (cont.)</a:t>
            </a:r>
          </a:p>
          <a:p>
            <a:pPr>
              <a:spcBef>
                <a:spcPts val="800"/>
              </a:spcBef>
              <a:defRPr sz="1600"/>
            </a:pPr>
            <a:r>
              <a:t>• 9. Internal Follow-Up Agent</a:t>
            </a:r>
          </a:p>
          <a:p>
            <a:pPr>
              <a:spcBef>
                <a:spcPts val="800"/>
              </a:spcBef>
              <a:defRPr sz="1600"/>
            </a:pPr>
            <a:r>
              <a:t>• 10. Duplicate &amp; Anomaly Agent</a:t>
            </a:r>
          </a:p>
          <a:p>
            <a:pPr>
              <a:spcBef>
                <a:spcPts val="800"/>
              </a:spcBef>
              <a:defRPr sz="1600"/>
            </a:pPr>
            <a:r>
              <a:t>• 11. Vendor Statement Reconciliation Agent</a:t>
            </a:r>
          </a:p>
          <a:p>
            <a:pPr>
              <a:spcBef>
                <a:spcPts val="800"/>
              </a:spcBef>
              <a:defRPr sz="1600"/>
            </a:pPr>
            <a:r>
              <a:t>• 12. Payment Proposal Review Agent</a:t>
            </a:r>
          </a:p>
          <a:p>
            <a:pPr>
              <a:spcBef>
                <a:spcPts val="800"/>
              </a:spcBef>
              <a:defRPr sz="1600"/>
            </a:pPr>
            <a:r>
              <a:t>• 13. AP Close Agent</a:t>
            </a:r>
          </a:p>
          <a:p>
            <a:pPr>
              <a:spcBef>
                <a:spcPts val="800"/>
              </a:spcBef>
              <a:defRPr sz="1600"/>
            </a:pPr>
            <a:r>
              <a:t>• 14. AP Reporting Agent</a:t>
            </a:r>
          </a:p>
          <a:p>
            <a:pPr>
              <a:spcBef>
                <a:spcPts val="800"/>
              </a:spcBef>
              <a:defRPr sz="1600"/>
            </a:pPr>
            <a:r>
              <a:t>• 15. Root Cause Agent</a:t>
            </a:r>
          </a:p>
          <a:p>
            <a:pPr>
              <a:spcBef>
                <a:spcPts val="800"/>
              </a:spcBef>
              <a:defRPr sz="1600"/>
            </a:pPr>
            <a:r>
              <a:t>• 16. AP Manager / Orchestrator Agent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/>
            </a:pPr>
            <a:r>
              <a:t>Implementation Roadmap</a:t>
            </a:r>
          </a:p>
          <a:p>
            <a:pPr>
              <a:spcBef>
                <a:spcPts val="800"/>
              </a:spcBef>
              <a:defRPr sz="1600"/>
            </a:pPr>
            <a:r>
              <a:t>• 4-6 weeks for first agent (accelerated)</a:t>
            </a:r>
          </a:p>
          <a:p>
            <a:pPr>
              <a:spcBef>
                <a:spcPts val="800"/>
              </a:spcBef>
              <a:defRPr sz="1600"/>
            </a:pPr>
            <a:r>
              <a:t>• 10-phase methodology</a:t>
            </a:r>
          </a:p>
          <a:p>
            <a:pPr>
              <a:spcBef>
                <a:spcPts val="800"/>
              </a:spcBef>
              <a:defRPr sz="1600"/>
            </a:pPr>
            <a:r>
              <a:t>• Shadow mode before execution</a:t>
            </a:r>
          </a:p>
          <a:p>
            <a:pPr>
              <a:spcBef>
                <a:spcPts val="800"/>
              </a:spcBef>
              <a:defRPr sz="1600"/>
            </a:pPr>
            <a:r>
              <a:t>• Evidence-based autonomy progression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
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011680"/>
            <a:ext cx="2011680" cy="36576"/>
          </a:xfrm>
          <a:prstGeom prst="rect">
            <a:avLst/>
          </a:prstGeom>
          <a:solidFill>
            <a:srgbClr val="8C7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C7349"/>
                </a:solidFill>
              </a:defRPr>
            </a:pPr>
            <a:r>
              <a:t>EVIDENCE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10972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3EFE6"/>
                </a:solidFill>
                <a:latin typeface="Georgia"/>
              </a:defRPr>
            </a:pPr>
            <a:r>
              <a:t>AP agents the board can govern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9C2B4"/>
                </a:solidFill>
              </a:defRPr>
            </a:pPr>
            <a:r>
              <a:t>Responsibility is earned.  ·  AP Agent OS  ·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216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84048"/>
            <a:ext cx="12191695" cy="27432"/>
          </a:xfrm>
          <a:prstGeom prst="rect">
            <a:avLst/>
          </a:prstGeom>
          <a:solidFill>
            <a:srgbClr val="8C7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3EFE6"/>
                </a:solidFill>
                <a:latin typeface="Calibri"/>
              </a:defRPr>
            </a:pPr>
            <a:r>
              <a:t>EVIDENCE ROOM  ·  AP AGENT 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C7349"/>
                </a:solidFill>
              </a:defRPr>
            </a:pPr>
            <a: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121614"/>
                </a:solidFill>
                <a:latin typeface="Georgia"/>
              </a:defRPr>
            </a:pPr>
            <a:r>
              <a:t>AP is already meeting AI without a job description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21614"/>
                </a:solidFill>
              </a:defRPr>
            </a:pPr>
            <a:r>
              <a:t>Approvals and exceptions still dominate the workload</a:t>
            </a:r>
          </a:p>
          <a:p>
            <a:pPr>
              <a:spcAft>
                <a:spcPts val="800"/>
              </a:spcAft>
              <a:defRPr sz="1800">
                <a:solidFill>
                  <a:srgbClr val="121614"/>
                </a:solidFill>
              </a:defRPr>
            </a:pPr>
            <a:r>
              <a:t>Ardent 2025: 18.4% exceptions, 35.4% STP, $9.84 average cost</a:t>
            </a:r>
          </a:p>
          <a:p>
            <a:pPr>
              <a:spcAft>
                <a:spcPts val="800"/>
              </a:spcAft>
              <a:defRPr sz="1800">
                <a:solidFill>
                  <a:srgbClr val="121614"/>
                </a:solidFill>
              </a:defRPr>
            </a:pPr>
            <a:r>
              <a:t>44% of AP teams already use some AI — often unchartered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A524C"/>
                </a:solidFill>
              </a:defRPr>
            </a:pPr>
            <a:r>
              <a:t>Not legal or accounting advice. Humans authorise payments. Responsibility is earned.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216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84048"/>
            <a:ext cx="12191695" cy="27432"/>
          </a:xfrm>
          <a:prstGeom prst="rect">
            <a:avLst/>
          </a:prstGeom>
          <a:solidFill>
            <a:srgbClr val="8C7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3EFE6"/>
                </a:solidFill>
                <a:latin typeface="Calibri"/>
              </a:defRPr>
            </a:pPr>
            <a:r>
              <a:t>EVIDENCE ROOM  ·  AP AGENT 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C7349"/>
                </a:solidFill>
              </a:defRPr>
            </a:pPr>
            <a:r>
              <a:t>OFFER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121614"/>
                </a:solidFill>
                <a:latin typeface="Georgia"/>
              </a:defRPr>
            </a:pPr>
            <a:r>
              <a:t>An operating system, not another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21614"/>
                </a:solidFill>
              </a:defRPr>
            </a:pPr>
            <a:r>
              <a:t>Design the agent layer across the ERP you already run</a:t>
            </a:r>
          </a:p>
          <a:p>
            <a:pPr>
              <a:spcAft>
                <a:spcPts val="800"/>
              </a:spcAft>
              <a:defRPr sz="1800">
                <a:solidFill>
                  <a:srgbClr val="121614"/>
                </a:solidFill>
              </a:defRPr>
            </a:pPr>
            <a:r>
              <a:t>Sixteen roles, earned autonomy, control matrix, KPI dictionary</a:t>
            </a:r>
          </a:p>
          <a:p>
            <a:pPr>
              <a:spcAft>
                <a:spcPts val="800"/>
              </a:spcAft>
              <a:defRPr sz="1800">
                <a:solidFill>
                  <a:srgbClr val="121614"/>
                </a:solidFill>
              </a:defRPr>
            </a:pPr>
            <a:r>
              <a:t>Humans authorise payments — always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A524C"/>
                </a:solidFill>
              </a:defRPr>
            </a:pPr>
            <a:r>
              <a:t>Not legal or accounting advice. Humans authorise payments. Responsibility is earned.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216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84048"/>
            <a:ext cx="12191695" cy="27432"/>
          </a:xfrm>
          <a:prstGeom prst="rect">
            <a:avLst/>
          </a:prstGeom>
          <a:solidFill>
            <a:srgbClr val="8C7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3EFE6"/>
                </a:solidFill>
                <a:latin typeface="Calibri"/>
              </a:defRPr>
            </a:pPr>
            <a:r>
              <a:t>EVIDENCE ROOM  ·  AP AGENT 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C7349"/>
                </a:solidFill>
              </a:defRPr>
            </a:pPr>
            <a:r>
              <a:t>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121614"/>
                </a:solidFill>
                <a:latin typeface="Georgia"/>
              </a:defRPr>
            </a:pPr>
            <a:r>
              <a:t>Responsibility is earned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21614"/>
                </a:solidFill>
              </a:defRPr>
            </a:pPr>
            <a:r>
              <a:t>Level 0 Observe → 1 Recommend → 2 Prepare → 3 Guardrailed execute → 4 Managed autonomy</a:t>
            </a:r>
          </a:p>
          <a:p>
            <a:pPr>
              <a:spcAft>
                <a:spcPts val="800"/>
              </a:spcAft>
              <a:defRPr sz="1800">
                <a:solidFill>
                  <a:srgbClr val="121614"/>
                </a:solidFill>
              </a:defRPr>
            </a:pPr>
            <a:r>
              <a:t>Promotion requires an evidence pack, not a demo</a:t>
            </a:r>
          </a:p>
          <a:p>
            <a:pPr>
              <a:spcAft>
                <a:spcPts val="800"/>
              </a:spcAft>
              <a:defRPr sz="1800">
                <a:solidFill>
                  <a:srgbClr val="121614"/>
                </a:solidFill>
              </a:defRPr>
            </a:pPr>
            <a:r>
              <a:t>Most first-year agents should live at 1–2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A524C"/>
                </a:solidFill>
              </a:defRPr>
            </a:pPr>
            <a:r>
              <a:t>Not legal or accounting advice. Humans authorise payments. Responsibility is earned.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216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84048"/>
            <a:ext cx="12191695" cy="27432"/>
          </a:xfrm>
          <a:prstGeom prst="rect">
            <a:avLst/>
          </a:prstGeom>
          <a:solidFill>
            <a:srgbClr val="8C7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3EFE6"/>
                </a:solidFill>
                <a:latin typeface="Calibri"/>
              </a:defRPr>
            </a:pPr>
            <a:r>
              <a:t>EVIDENCE ROOM  ·  AP AGENT 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C7349"/>
                </a:solidFill>
              </a:defRPr>
            </a:pPr>
            <a:r>
              <a:t>ECONOMICS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121614"/>
                </a:solidFill>
                <a:latin typeface="Georgia"/>
              </a:defRPr>
            </a:pPr>
            <a:r>
              <a:t>Conservative cases are allowed to fail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21614"/>
                </a:solidFill>
              </a:defRPr>
            </a:pPr>
            <a:r>
              <a:t>Model labour, exceptions, tool cost, implementation</a:t>
            </a:r>
          </a:p>
          <a:p>
            <a:pPr>
              <a:spcAft>
                <a:spcPts val="800"/>
              </a:spcAft>
              <a:defRPr sz="1800">
                <a:solidFill>
                  <a:srgbClr val="121614"/>
                </a:solidFill>
              </a:defRPr>
            </a:pPr>
            <a:r>
              <a:t>Do not book duplicate-payment miracles</a:t>
            </a:r>
          </a:p>
          <a:p>
            <a:pPr>
              <a:spcAft>
                <a:spcPts val="800"/>
              </a:spcAft>
              <a:defRPr sz="1800">
                <a:solidFill>
                  <a:srgbClr val="121614"/>
                </a:solidFill>
              </a:defRPr>
            </a:pPr>
            <a:r>
              <a:t>Orientation benchmarks are not your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A524C"/>
                </a:solidFill>
              </a:defRPr>
            </a:pPr>
            <a:r>
              <a:t>Not legal or accounting advice. Humans authorise payments. Responsibility is earned.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216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84048"/>
            <a:ext cx="12191695" cy="27432"/>
          </a:xfrm>
          <a:prstGeom prst="rect">
            <a:avLst/>
          </a:prstGeom>
          <a:solidFill>
            <a:srgbClr val="8C7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31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3EFE6"/>
                </a:solidFill>
                <a:latin typeface="Calibri"/>
              </a:defRPr>
            </a:pPr>
            <a:r>
              <a:t>EVIDENCE ROOM  ·  AP AGENT 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C7349"/>
                </a:solidFill>
              </a:defRPr>
            </a:pPr>
            <a:r>
              <a:t>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6868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121614"/>
                </a:solidFill>
                <a:latin typeface="Georgia"/>
              </a:defRPr>
            </a:pPr>
            <a:r>
              <a:t>Ninety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21614"/>
                </a:solidFill>
              </a:defRPr>
            </a:pPr>
            <a:r>
              <a:t>Fund one bounded agent at Level 1</a:t>
            </a:r>
          </a:p>
          <a:p>
            <a:pPr>
              <a:spcAft>
                <a:spcPts val="800"/>
              </a:spcAft>
              <a:defRPr sz="1800">
                <a:solidFill>
                  <a:srgbClr val="121614"/>
                </a:solidFill>
              </a:defRPr>
            </a:pPr>
            <a:r>
              <a:t>Give data access and a named owner</a:t>
            </a:r>
          </a:p>
          <a:p>
            <a:pPr>
              <a:spcAft>
                <a:spcPts val="800"/>
              </a:spcAft>
              <a:defRPr sz="1800">
                <a:solidFill>
                  <a:srgbClr val="121614"/>
                </a:solidFill>
              </a:defRPr>
            </a:pPr>
            <a:r>
              <a:t>Return with accuracy, ageing and a go/no-go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A524C"/>
                </a:solidFill>
              </a:defRPr>
            </a:pPr>
            <a:r>
              <a:t>Not legal or accounting advice. Humans authorise payments. Responsibility is earned.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
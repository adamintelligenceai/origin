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347472" cy="347472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40080"/>
            <a:ext cx="347472" cy="347472"/>
          </a:xfrm>
          <a:prstGeom prst="rect">
            <a:avLst/>
          </a:prstGeom>
          <a:noFill/>
          <a:ln w="12700">
            <a:solidFill>
              <a:srgbClr val="B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893E"/>
                </a:solidFill>
                <a:latin typeface="Calibri"/>
              </a:rPr>
              <a:t>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12160F"/>
                </a:solidFill>
                <a:latin typeface="Georgia"/>
              </a:rPr>
              <a:t>Arithmetic on your inputs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154"/>
                </a:solidFill>
                <a:latin typeface="Calibri"/>
              </a:rPr>
              <a:t>Not a forecast. Duplicate-suspect savings equal zero. Leave unknowns blank.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154"/>
                </a:solidFill>
                <a:latin typeface="Calibri"/>
              </a:rPr>
              <a:t>Proof before permission.  ·  Working draft. Not a forecast.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How to use the workbook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Enter volume, path FTE, loaded cost, hours, touch and exception times.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Leave unknowns blank. Do not fill with industry averages.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Read Conservative / Base / Upside as envelopes.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Do not paste vendor $2.78 / $12.88 into INPUTS.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Validated savings require a Finance attestation method.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Yellow cells only for a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I1 Annual invoice volume.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I2 Path FTE. I3 Loaded cost. I4 Hours per FTE (must stay visible).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I5 Manual-touch share. I6 Minutes per manual touch.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I7 Exception rate. I8 Minutes per exception.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I12 Tool / model cost and implementation cost.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I13 Efficiency envelopes — hours released share, not money invented.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Refusals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2160F"/>
                </a:solidFill>
                <a:latin typeface="Georgia"/>
              </a:rPr>
              <a:t>What the model will 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4023360" cy="50292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1234440"/>
            <a:ext cx="4023360" cy="50292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893E"/>
                </a:solidFill>
                <a:latin typeface="Calibri"/>
              </a:rPr>
              <a:t>Forced to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Duplicate-suspect savings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Blank late-pay or early-pay credits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Vendor benchmark as a target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A single composite “AI score”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893E"/>
                </a:solidFill>
                <a:latin typeface="Calibri"/>
              </a:rPr>
              <a:t>Human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828800"/>
            <a:ext cx="3749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Payment release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Attestation of savings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Choice of envelope to show a board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2160F"/>
                </a:solidFill>
                <a:latin typeface="Calibri"/>
              </a:rPr>
              <a:t>·  Whether to proceed at all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Do not average these into one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Activity — volume context only.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Operational — accuracy, ageing, intervention. May veto expansion.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Financial — cost and validated money movement. Never overrides risk-control.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Risk-control — breaches, reconstructability. May veto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Northline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Fictional illustration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180,000 invoices / year. 14 path FTE. $85,000 loaded.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Used so the sheets are not empty.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Replace every input before any internal circulation that looks like a forecast.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Label Northline fictional in the first mention of a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What we may say in a pack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McKinsey State of AI 2025 figures with sample and date.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High performers redesign workflows — that is the method.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Ardent via Tipalti is vendor-citing-independent. Not a before/after.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If a number is not in the research ledger, do not put it on a slide.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E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B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0893E"/>
                </a:solidFill>
                <a:latin typeface="Calibri"/>
              </a:rPr>
              <a:t>EVIDENCE ROOM — AP AGENT OS   ·  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2160F"/>
                </a:solidFill>
                <a:latin typeface="Georgia"/>
              </a:rPr>
              <a:t>What a board can usefully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321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Fund a Wave 1 design and shadow — not a platform.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Name owners and a challenger.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Accept that remaining at L1 is success.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2160F"/>
                </a:solidFill>
                <a:latin typeface="Calibri"/>
              </a:rPr>
              <a:t>·  Refuse any frame that requires a guaranteed ROI to proceed.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
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AP Agent OS — Steering Pack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91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7F4EF"/>
                </a:solidFill>
                <a:latin typeface="Calibri"/>
              </a:rPr>
              <a:t>Decision, risk, and evidence pack for executive oversight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F78"/>
                </a:solidFill>
                <a:latin typeface="Calibri"/>
              </a:rPr>
              <a:t>STEERING COMMITTEE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B1F33"/>
                </a:solidFill>
                <a:latin typeface="Calibri"/>
              </a:rPr>
              <a:t>Standard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058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0B1F33"/>
                </a:solidFill>
                <a:latin typeface="Calibri"/>
              </a:defRPr>
            </a:pPr>
            <a:r>
              <a:t>1. KPI snapshot (STP, exceptions, intervention, cost, incidents)</a:t>
            </a:r>
          </a:p>
          <a:p>
            <a:pPr>
              <a:spcAft>
                <a:spcPts val="800"/>
              </a:spcAft>
              <a:defRPr sz="1700">
                <a:solidFill>
                  <a:srgbClr val="0B1F33"/>
                </a:solidFill>
                <a:latin typeface="Calibri"/>
              </a:defRPr>
            </a:pPr>
            <a:r>
              <a:t>2. Agent registry changes and autonomy requests</a:t>
            </a:r>
          </a:p>
          <a:p>
            <a:pPr>
              <a:spcAft>
                <a:spcPts val="800"/>
              </a:spcAft>
              <a:defRPr sz="1700">
                <a:solidFill>
                  <a:srgbClr val="0B1F33"/>
                </a:solidFill>
                <a:latin typeface="Calibri"/>
              </a:defRPr>
            </a:pPr>
            <a:r>
              <a:t>3. Control exceptions and incidents</a:t>
            </a:r>
          </a:p>
          <a:p>
            <a:pPr>
              <a:spcAft>
                <a:spcPts val="800"/>
              </a:spcAft>
              <a:defRPr sz="1700">
                <a:solidFill>
                  <a:srgbClr val="0B1F33"/>
                </a:solidFill>
                <a:latin typeface="Calibri"/>
              </a:defRPr>
            </a:pPr>
            <a:r>
              <a:t>4. Benefits validation status</a:t>
            </a:r>
          </a:p>
          <a:p>
            <a:pPr>
              <a:spcAft>
                <a:spcPts val="800"/>
              </a:spcAft>
              <a:defRPr sz="1700">
                <a:solidFill>
                  <a:srgbClr val="0B1F33"/>
                </a:solidFill>
                <a:latin typeface="Calibri"/>
              </a:defRPr>
            </a:pPr>
            <a:r>
              <a:t>5. Decisions required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F78"/>
                </a:solidFill>
                <a:latin typeface="Calibri"/>
              </a:rPr>
              <a:t>STEERING COMMITTEE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B1F33"/>
                </a:solidFill>
                <a:latin typeface="Calibri"/>
              </a:rPr>
              <a:t>Decision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058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0B1F33"/>
                </a:solidFill>
                <a:latin typeface="Calibri"/>
              </a:defRPr>
            </a:pPr>
            <a:r>
              <a:t>Approve / defer / reject autonomy promotion</a:t>
            </a:r>
          </a:p>
          <a:p>
            <a:pPr>
              <a:spcAft>
                <a:spcPts val="800"/>
              </a:spcAft>
              <a:defRPr sz="1700">
                <a:solidFill>
                  <a:srgbClr val="0B1F33"/>
                </a:solidFill>
                <a:latin typeface="Calibri"/>
              </a:defRPr>
            </a:pPr>
            <a:r>
              <a:t>Expand or freeze scope</a:t>
            </a:r>
          </a:p>
          <a:p>
            <a:pPr>
              <a:spcAft>
                <a:spcPts val="800"/>
              </a:spcAft>
              <a:defRPr sz="1700">
                <a:solidFill>
                  <a:srgbClr val="0B1F33"/>
                </a:solidFill>
                <a:latin typeface="Calibri"/>
              </a:defRPr>
            </a:pPr>
            <a:r>
              <a:t>Fund next workstream</a:t>
            </a:r>
          </a:p>
          <a:p>
            <a:pPr>
              <a:spcAft>
                <a:spcPts val="800"/>
              </a:spcAft>
              <a:defRPr sz="1700">
                <a:solidFill>
                  <a:srgbClr val="0B1F33"/>
                </a:solidFill>
                <a:latin typeface="Calibri"/>
              </a:defRPr>
            </a:pPr>
            <a:r>
              <a:t>Escalate vendor/model risk</a:t>
            </a:r>
          </a:p>
          <a:p>
            <a:pPr>
              <a:spcAft>
                <a:spcPts val="800"/>
              </a:spcAft>
              <a:defRPr sz="1700">
                <a:solidFill>
                  <a:srgbClr val="0B1F33"/>
                </a:solidFill>
                <a:latin typeface="Calibri"/>
              </a:defRPr>
            </a:pPr>
            <a:r>
              <a:t>Require remediation before continue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F78"/>
                </a:solidFill>
                <a:latin typeface="Calibri"/>
              </a:rPr>
              <a:t>STEERING COMMITTEE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B1F33"/>
                </a:solidFill>
                <a:latin typeface="Calibri"/>
              </a:rPr>
              <a:t>Non-negotiables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058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0B1F33"/>
                </a:solidFill>
                <a:latin typeface="Calibri"/>
              </a:defRPr>
            </a:pPr>
            <a:r>
              <a:t>No payment execution by agents</a:t>
            </a:r>
          </a:p>
          <a:p>
            <a:pPr>
              <a:spcAft>
                <a:spcPts val="800"/>
              </a:spcAft>
              <a:defRPr sz="1700">
                <a:solidFill>
                  <a:srgbClr val="0B1F33"/>
                </a:solidFill>
                <a:latin typeface="Calibri"/>
              </a:defRPr>
            </a:pPr>
            <a:r>
              <a:t>No silent level changes</a:t>
            </a:r>
          </a:p>
          <a:p>
            <a:pPr>
              <a:spcAft>
                <a:spcPts val="800"/>
              </a:spcAft>
              <a:defRPr sz="1700">
                <a:solidFill>
                  <a:srgbClr val="0B1F33"/>
                </a:solidFill>
                <a:latin typeface="Calibri"/>
              </a:defRPr>
            </a:pPr>
            <a:r>
              <a:t>No unverified savings in board materials</a:t>
            </a:r>
          </a:p>
          <a:p>
            <a:pPr>
              <a:spcAft>
                <a:spcPts val="800"/>
              </a:spcAft>
              <a:defRPr sz="1700">
                <a:solidFill>
                  <a:srgbClr val="0B1F33"/>
                </a:solidFill>
                <a:latin typeface="Calibri"/>
              </a:defRPr>
            </a:pPr>
            <a:r>
              <a:t>Human accountable owner for every live agent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
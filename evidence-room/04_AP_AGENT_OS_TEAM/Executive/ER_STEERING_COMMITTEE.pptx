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48640"/>
            <a:ext cx="256032" cy="256032"/>
          </a:xfrm>
          <a:prstGeom prst="rect">
            <a:avLst/>
          </a:prstGeom>
          <a:solidFill>
            <a:srgbClr val="1E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5303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FFFCF7"/>
                </a:solidFill>
                <a:latin typeface="Calibri"/>
              </a:rPr>
              <a:t>EVIDENCE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B8A888"/>
                </a:solidFill>
                <a:latin typeface="Calibri"/>
              </a:rPr>
              <a:t>STEERING PACK  ·  MONTHLY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FFFCF7"/>
                </a:solidFill>
                <a:latin typeface="Calibri"/>
              </a:rPr>
              <a:t>Agent performance, not model theatre.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5720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F3EFE6"/>
                </a:solidFill>
                <a:latin typeface="Calibri"/>
              </a:rPr>
              <a:t>One pack: activity, operational outcomes, financial (only if signed), risk-control. Promote, hold, or retire.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035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B8A888"/>
                </a:solidFill>
                <a:latin typeface="Calibri"/>
              </a:rPr>
              <a:t>Template · replace Northline figures · Version 1.0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0350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B8A888"/>
                </a:solidFill>
                <a:latin typeface="Calibri"/>
              </a:rPr>
              <a:t>1 /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4171C"/>
                </a:solidFill>
                <a:latin typeface="Calibri"/>
              </a:rPr>
              <a:t>Decision required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2011680" cy="27432"/>
          </a:xfrm>
          <a:prstGeom prst="rect">
            <a:avLst/>
          </a:prstGeom>
          <a:solidFill>
            <a:srgbClr val="1E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14171C"/>
                </a:solidFill>
                <a:latin typeface="Calibri"/>
              </a:rPr>
              <a:t>–  Hold A01 at Level 1 — extraction accuracy 93% on golden set; FNR still 6%.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4171C"/>
                </a:solidFill>
                <a:latin typeface="Calibri"/>
              </a:rPr>
              <a:t>–  Do not promote A12. Challenge packs are useful. Release remains human.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4171C"/>
                </a:solidFill>
                <a:latin typeface="Calibri"/>
              </a:rPr>
              <a:t>–  Open incident: one unlogged override (R1). Close before any scope expansion.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4171C"/>
                </a:solidFill>
                <a:latin typeface="Calibri"/>
              </a:rPr>
              <a:t>–  Approve 20 more days of A05 shadow on plants 1000–1200 only.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5C6370"/>
                </a:solidFill>
                <a:latin typeface="Calibri"/>
              </a:rPr>
              <a:t>Sample decisions for the template. Replace with live registry.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417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FFFCF7"/>
                </a:solidFill>
                <a:latin typeface="Calibri"/>
              </a:rPr>
              <a:t>EVIDENCE ROOM  ·  STEERING COMMITTEE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6539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FFFCF7"/>
                </a:solidFill>
                <a:latin typeface="Calibri"/>
              </a:rPr>
              <a:t>2 /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4171C"/>
                </a:solidFill>
                <a:latin typeface="Calibri"/>
              </a:rPr>
              <a:t>Operating measures (illustrative layout)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2011680" cy="27432"/>
          </a:xfrm>
          <a:prstGeom prst="rect">
            <a:avLst/>
          </a:prstGeom>
          <a:solidFill>
            <a:srgbClr val="1E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14171C"/>
                </a:solidFill>
                <a:latin typeface="Calibri"/>
              </a:rPr>
              <a:t>–  O5 STP 31% → 36% on the pilot population (same entity, same channel).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4171C"/>
                </a:solidFill>
                <a:latin typeface="Calibri"/>
              </a:rPr>
              <a:t>–  O3 FPR 18% → 14%. O4 FNR 7% → 6%. Do not celebrate FPR if FNR rose.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4171C"/>
                </a:solidFill>
                <a:latin typeface="Calibri"/>
              </a:rPr>
              <a:t>–  O11 missing receipts 420 → 360 open items &gt; policy.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4171C"/>
                </a:solidFill>
                <a:latin typeface="Calibri"/>
              </a:rPr>
              <a:t>–  R1 control breaches: 0 this period after prior 2.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4171C"/>
                </a:solidFill>
                <a:latin typeface="Calibri"/>
              </a:rPr>
              <a:t>–  F5 validated savings: $0 (unsigned). F4 hours released: 240 (capacity).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5C6370"/>
                </a:solidFill>
                <a:latin typeface="Calibri"/>
              </a:rPr>
              <a:t>Northline-style illustration. Not a customer result.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417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FFFCF7"/>
                </a:solidFill>
                <a:latin typeface="Calibri"/>
              </a:rPr>
              <a:t>EVIDENCE ROOM  ·  STEERING COMMITTEE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6539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FFFCF7"/>
                </a:solidFill>
                <a:latin typeface="Calibri"/>
              </a:rPr>
              <a:t>3 /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4171C"/>
                </a:solidFill>
                <a:latin typeface="Calibri"/>
              </a:rPr>
              <a:t>Promote / hold / retire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68680"/>
            <a:ext cx="2011680" cy="27432"/>
          </a:xfrm>
          <a:prstGeom prst="rect">
            <a:avLst/>
          </a:prstGeom>
          <a:solidFill>
            <a:srgbClr val="1E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5212080" cy="4937760"/>
          </a:xfrm>
          <a:prstGeom prst="rect">
            <a:avLst/>
          </a:prstGeom>
          <a:solidFill>
            <a:srgbClr val="FAF7F0"/>
          </a:solidFill>
          <a:ln>
            <a:solidFill>
              <a:srgbClr val="B8A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26480" y="1143000"/>
            <a:ext cx="5394960" cy="4937760"/>
          </a:xfrm>
          <a:prstGeom prst="rect">
            <a:avLst/>
          </a:prstGeom>
          <a:solidFill>
            <a:srgbClr val="FAF7F0"/>
          </a:solidFill>
          <a:ln>
            <a:solidFill>
              <a:srgbClr val="B8A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258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1E5C45"/>
                </a:solidFill>
                <a:latin typeface="Calibri"/>
              </a:rPr>
              <a:t>Promote only if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325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8C3A2F"/>
                </a:solidFill>
                <a:latin typeface="Calibri"/>
              </a:rPr>
              <a:t>Retire or pause if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 i="0">
                <a:solidFill>
                  <a:srgbClr val="14171C"/>
                </a:solidFill>
                <a:latin typeface="Calibri"/>
              </a:rPr>
              <a:t>–  Charter still true.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14171C"/>
                </a:solidFill>
                <a:latin typeface="Calibri"/>
              </a:rPr>
              <a:t>–  Sampled accuracy above written gate.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14171C"/>
                </a:solidFill>
                <a:latin typeface="Calibri"/>
              </a:rPr>
              <a:t>–  No open severity-1 control incident.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14171C"/>
                </a:solidFill>
                <a:latin typeface="Calibri"/>
              </a:rPr>
              <a:t>–  Human owner signs.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14171C"/>
                </a:solidFill>
                <a:latin typeface="Calibri"/>
              </a:rPr>
              <a:t>–  A16 registry updated with evidence link.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78308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 i="0">
                <a:solidFill>
                  <a:srgbClr val="14171C"/>
                </a:solidFill>
                <a:latin typeface="Calibri"/>
              </a:rPr>
              <a:t>–  FNR worse than baseline.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14171C"/>
                </a:solidFill>
                <a:latin typeface="Calibri"/>
              </a:rPr>
              <a:t>–  Unlogged override.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14171C"/>
                </a:solidFill>
                <a:latin typeface="Calibri"/>
              </a:rPr>
              <a:t>–  Model changed without release.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14171C"/>
                </a:solidFill>
                <a:latin typeface="Calibri"/>
              </a:rPr>
              <a:t>–  Owner left and backup unsigned.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14171C"/>
                </a:solidFill>
                <a:latin typeface="Calibri"/>
              </a:rPr>
              <a:t>–  The job is better as deterministic rules.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417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5653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FFFCF7"/>
                </a:solidFill>
                <a:latin typeface="Calibri"/>
              </a:rPr>
              <a:t>EVIDENCE ROOM  ·  STEERING COMMITTEE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56539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FFFCF7"/>
                </a:solidFill>
                <a:latin typeface="Calibri"/>
              </a:rPr>
              <a:t>4 /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
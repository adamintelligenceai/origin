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256032" cy="256032"/>
          </a:xfrm>
          <a:prstGeom prst="rect">
            <a:avLst/>
          </a:prstGeom>
          <a:solidFill>
            <a:srgbClr val="1E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5303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CF7"/>
                </a:solidFill>
                <a:latin typeface="Calibri"/>
              </a:rPr>
              <a:t>EVIDENCE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B8A888"/>
                </a:solidFill>
                <a:latin typeface="Calibri"/>
              </a:rPr>
              <a:t>AP AGENT OS  ·  EXECUTIVE BRIEFING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CF7"/>
                </a:solidFill>
                <a:latin typeface="Calibri"/>
              </a:rPr>
              <a:t>Responsibility is earned.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F3EFE6"/>
                </a:solidFill>
                <a:latin typeface="Calibri"/>
              </a:rPr>
              <a:t>An operating system for building, governing and scaling AI agents across Accounts Payable — without replacing your ERP, and without autonomous payments.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B8A888"/>
                </a:solidFill>
                <a:latin typeface="Calibri"/>
              </a:rPr>
              <a:t>Evidence Room  ·  Version 1.0  ·  September 2026  ·  evidenceroom.ai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035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B8A888"/>
                </a:solidFill>
                <a:latin typeface="Calibri"/>
              </a:rPr>
              <a:t>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171C"/>
                </a:solidFill>
                <a:latin typeface="Calibri"/>
              </a:rPr>
              <a:t>The problem, stated for a CFO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011680" cy="27432"/>
          </a:xfrm>
          <a:prstGeom prst="rect">
            <a:avLst/>
          </a:prstGeom>
          <a:solidFill>
            <a:srgbClr val="1E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You already have an ERP, probably an AP suite, a bank portal, and a shared-services team.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The gap is not another capture tool. It is the operating system for an agent layer: job, owner, autonomy, control, evidence.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Pilots die in slides because nobody can say what the agent is allowed to do, or what would count as progress.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That is a responsibility problem, not a model problem.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EVIDENCE ROOM  ·  CFO AP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171C"/>
                </a:solidFill>
                <a:latin typeface="Calibri"/>
              </a:rPr>
              <a:t>What this is / is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2011680" cy="27432"/>
          </a:xfrm>
          <a:prstGeom prst="rect">
            <a:avLst/>
          </a:prstGeom>
          <a:solidFill>
            <a:srgbClr val="1E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5212080" cy="4937760"/>
          </a:xfrm>
          <a:prstGeom prst="rect">
            <a:avLst/>
          </a:prstGeom>
          <a:solidFill>
            <a:srgbClr val="FAF7F0"/>
          </a:solidFill>
          <a:ln>
            <a:solidFill>
              <a:srgbClr val="B8A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1143000"/>
            <a:ext cx="5394960" cy="4937760"/>
          </a:xfrm>
          <a:prstGeom prst="rect">
            <a:avLst/>
          </a:prstGeom>
          <a:solidFill>
            <a:srgbClr val="FAF7F0"/>
          </a:solidFill>
          <a:ln>
            <a:solidFill>
              <a:srgbClr val="B8A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E5C45"/>
                </a:solidFill>
                <a:latin typeface="Calibri"/>
              </a:rPr>
              <a:t>Evidence Room 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8C3A2F"/>
                </a:solidFill>
                <a:latin typeface="Calibri"/>
              </a:rPr>
              <a:t>Evidence Room is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A method, control system, measurement model, and 16-agent architecture.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ERP-agnostic: SAP, D365, Oracle, NetSuite, Workday, others.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Designed so a team can start Monday after a Friday purchase.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A path from Observe → Recommend → Prepare → guarded Execute.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An ERP or AP automation replacement.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A ChatGPT prompt pack.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An autonomous payment system.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A guarantee of savings, fraud detection, compliance, or ROI.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EVIDENCE ROOM  ·  CFO AP TRANSFORMATION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171C"/>
                </a:solidFill>
                <a:latin typeface="Calibri"/>
              </a:rPr>
              <a:t>Industry context — not a forecast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011680" cy="27432"/>
          </a:xfrm>
          <a:prstGeom prst="rect">
            <a:avLst/>
          </a:prstGeom>
          <a:solidFill>
            <a:srgbClr val="1E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Ardent Partners (2024 Best-in-Class, via Payables Place 21 Jan 2025): BIC AP teams show 78% lower invoice cost, 82% faster cycle, 59% lower exceptions vs peers.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Best-in-Class exception rate reported at 9% of invoices.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STP capability in place at 69% of Best-in-Class; they are 2.4× more likely to process straight-through.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Forrester (Meng Liu, 17 Mar 2025) names six AI AP clusters: capture, matching, reporting, fraud management, payment management, e-invoicing/tax.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Use these as ambition context. Your baseline remains your baseline.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5C6370"/>
                </a:solidFill>
                <a:latin typeface="Calibri"/>
              </a:rPr>
              <a:t>Independent research. Not Evidence Room results. Not a promise.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EVIDENCE ROOM  ·  CFO AP TRANSFORMATION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171C"/>
                </a:solidFill>
                <a:latin typeface="Calibri"/>
              </a:rPr>
              <a:t>The sixteen-agent workforce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011680" cy="27432"/>
          </a:xfrm>
          <a:prstGeom prst="rect">
            <a:avLst/>
          </a:prstGeom>
          <a:solidFill>
            <a:srgbClr val="1E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Invoice path: Intake → Duplicate screen → Validation → Matching → Approval (if required) → human or guarded post.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Exception path: Triage → GR / PO quality / Supplier / Internal follow-up.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Periodic path: Statement recon, payment-proposal challenge, close, reporting, root cause.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A16 Orchestrator dispatches and enforces gates. It cannot promote itself.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A12 challenges the payment run. A human always releases.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EVIDENCE ROOM  ·  CFO AP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171C"/>
                </a:solidFill>
                <a:latin typeface="Calibri"/>
              </a:rPr>
              <a:t>Responsibility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011680" cy="27432"/>
          </a:xfrm>
          <a:prstGeom prst="rect">
            <a:avLst/>
          </a:prstGeom>
          <a:solidFill>
            <a:srgbClr val="1E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Level 0 Observe — reviews, cannot act.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Level 1 Recommend — recommendations for humans.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Level 2 Prepare — drafts actions; approval required.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Level 3 Execute within guardrails — pre-approved low-risk actions only.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Level 4 Managed autonomy — scoped, time-boxed, exception-based oversight.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Every agent starts at 0 or 1. Promotion requires a measured pack. Full autonomy is never the default.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EVIDENCE ROOM  ·  CFO AP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171C"/>
                </a:solidFill>
                <a:latin typeface="Calibri"/>
              </a:rPr>
              <a:t>What the CFO should insist 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868680"/>
            <a:ext cx="2011680" cy="27432"/>
          </a:xfrm>
          <a:prstGeom prst="rect">
            <a:avLst/>
          </a:prstGeom>
          <a:solidFill>
            <a:srgbClr val="1E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143000"/>
            <a:ext cx="5212080" cy="4937760"/>
          </a:xfrm>
          <a:prstGeom prst="rect">
            <a:avLst/>
          </a:prstGeom>
          <a:solidFill>
            <a:srgbClr val="FAF7F0"/>
          </a:solidFill>
          <a:ln>
            <a:solidFill>
              <a:srgbClr val="B8A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6480" y="1143000"/>
            <a:ext cx="5394960" cy="4937760"/>
          </a:xfrm>
          <a:prstGeom prst="rect">
            <a:avLst/>
          </a:prstGeom>
          <a:solidFill>
            <a:srgbClr val="FAF7F0"/>
          </a:solidFill>
          <a:ln>
            <a:solidFill>
              <a:srgbClr val="B8A8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1E5C45"/>
                </a:solidFill>
                <a:latin typeface="Calibri"/>
              </a:rPr>
              <a:t>Before any write-access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1325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8C3A2F"/>
                </a:solidFill>
                <a:latin typeface="Calibri"/>
              </a:rPr>
              <a:t>Before any 'savings' slide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783080"/>
            <a:ext cx="48463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Named human owner and backup.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Written exclusions (especially payment release).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Least-privilege service identity.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Shadow versus human log.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FPR / FNR on a labelled sample.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1783080"/>
            <a:ext cx="50292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Customer cost model, not a vendor blog.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Hours-to-cash conversion stated.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Control-breach count in the same pack.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Finance signature on validated savings.</a:t>
            </a:r>
          </a:p>
          <a:p>
            <a:pPr>
              <a:spcAft>
                <a:spcPts val="800"/>
              </a:spcAft>
            </a:pPr>
            <a:r>
              <a:rPr sz="1400" b="0" i="0">
                <a:solidFill>
                  <a:srgbClr val="14171C"/>
                </a:solidFill>
                <a:latin typeface="Calibri"/>
              </a:rPr>
              <a:t>–  A decline option if evidence is thin.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EVIDENCE ROOM  ·  CFO AP TRANSFORMATION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171C"/>
                </a:solidFill>
                <a:latin typeface="Calibri"/>
              </a:rPr>
              <a:t>90-day shape (illustrative, not a commitment)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011680" cy="27432"/>
          </a:xfrm>
          <a:prstGeom prst="rect">
            <a:avLst/>
          </a:prstGeom>
          <a:solidFill>
            <a:srgbClr val="1E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Days 1–15: baseline diagnostic, one process walkthrough, one agent charter.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Days 16–35: historical test + shadow on a bounded population.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Days 36–60: controlled pilot if O + R families hold.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Days 61–90: steering review; promote, hold, or retire.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A single well-bounded agent can move in 4–6 weeks. Multi-ERP, weak master data, or unclear SoD extends this. Say so.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EVIDENCE ROOM  ·  CFO AP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EF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32004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 i="0">
                <a:solidFill>
                  <a:srgbClr val="14171C"/>
                </a:solidFill>
                <a:latin typeface="Calibri"/>
              </a:rPr>
              <a:t>Ask of this room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914400"/>
            <a:ext cx="2011680" cy="27432"/>
          </a:xfrm>
          <a:prstGeom prst="rect">
            <a:avLst/>
          </a:prstGeom>
          <a:solidFill>
            <a:srgbClr val="1E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8872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Name an AP process owner with authority to refuse a bad pilot.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Fund measurement before model spend.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Keep payment authorisation human.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Treat agent changes as releases.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14171C"/>
                </a:solidFill>
                <a:latin typeface="Calibri"/>
              </a:rPr>
              <a:t>–  Buy the operating system — then, if needed, the productised blueprint — before you buy another platform.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EVIDENCE ROOM  ·  CFO AP TRANSFORMATION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565392"/>
            <a:ext cx="16459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FFFCF7"/>
                </a:solidFill>
                <a:latin typeface="Calibri"/>
              </a:rPr>
              <a:t>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7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48640"/>
            <a:ext cx="256032" cy="256032"/>
          </a:xfrm>
          <a:prstGeom prst="rect">
            <a:avLst/>
          </a:prstGeom>
          <a:solidFill>
            <a:srgbClr val="1E5C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530352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 i="0">
                <a:solidFill>
                  <a:srgbClr val="FFFCF7"/>
                </a:solidFill>
                <a:latin typeface="Calibri"/>
              </a:rPr>
              <a:t>EVIDENCE ROOM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B8A888"/>
                </a:solidFill>
                <a:latin typeface="Calibri"/>
              </a:rPr>
              <a:t>NEXT STEP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 i="0">
                <a:solidFill>
                  <a:srgbClr val="FFFCF7"/>
                </a:solidFill>
                <a:latin typeface="Calibri"/>
              </a:rPr>
              <a:t>Assess AP Agent Readiness.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572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 i="0">
                <a:solidFill>
                  <a:srgbClr val="F3EFE6"/>
                </a:solidFill>
                <a:latin typeface="Calibri"/>
              </a:rPr>
              <a:t>Free diagnostic · 36 questions · customer baseline. Then Starter ($79), Professional ($199), Team ($499), or a scoped Blueprint.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0350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B8A888"/>
                </a:solidFill>
                <a:latin typeface="Calibri"/>
              </a:rPr>
              <a:t>evidenceroom.ai  ·  Responsibility is earned.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0350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 i="0">
                <a:solidFill>
                  <a:srgbClr val="B8A888"/>
                </a:solidFill>
                <a:latin typeface="Calibri"/>
              </a:rPr>
              <a:t>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